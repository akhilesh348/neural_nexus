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ndard"/>
        <c:varyColors val="0"/>
        <c:ser>
          <c:idx val="0"/>
          <c:order val="0"/>
          <c:tx>
            <c:strRef>
              <c:f>Sheet1!$B$1</c:f>
              <c:strCache>
                <c:ptCount val="1"/>
                <c:pt idx="0">
                  <c:v>Unique emails per month</c:v>
                </c:pt>
              </c:strCache>
            </c:strRef>
          </c:tx>
          <c:spPr>
            <a:solidFill>
              <a:srgbClr val="415A77"/>
            </a:solidFill>
          </c:spPr>
          <c:cat>
            <c:strRef>
              <c:f>Sheet1!$A$2:$A$41</c:f>
              <c:strCache>
                <c:ptCount val="40"/>
                <c:pt idx="0">
                  <c:v>Jul 99</c:v>
                </c:pt>
                <c:pt idx="1">
                  <c:v>Aug 99</c:v>
                </c:pt>
                <c:pt idx="2">
                  <c:v>Sep 99</c:v>
                </c:pt>
                <c:pt idx="3">
                  <c:v>Oct 99</c:v>
                </c:pt>
                <c:pt idx="4">
                  <c:v>Nov 99</c:v>
                </c:pt>
                <c:pt idx="5">
                  <c:v>Dec 99</c:v>
                </c:pt>
                <c:pt idx="6">
                  <c:v>Jan 00</c:v>
                </c:pt>
                <c:pt idx="7">
                  <c:v>Feb 00</c:v>
                </c:pt>
                <c:pt idx="8">
                  <c:v>Mar 00</c:v>
                </c:pt>
                <c:pt idx="9">
                  <c:v>Apr 00</c:v>
                </c:pt>
                <c:pt idx="10">
                  <c:v>May 00</c:v>
                </c:pt>
                <c:pt idx="11">
                  <c:v>Jun 00</c:v>
                </c:pt>
                <c:pt idx="12">
                  <c:v>Jul 00</c:v>
                </c:pt>
                <c:pt idx="13">
                  <c:v>Aug 00</c:v>
                </c:pt>
                <c:pt idx="14">
                  <c:v>Sep 00</c:v>
                </c:pt>
                <c:pt idx="15">
                  <c:v>Oct 00</c:v>
                </c:pt>
                <c:pt idx="16">
                  <c:v>Nov 00</c:v>
                </c:pt>
                <c:pt idx="17">
                  <c:v>Dec 00</c:v>
                </c:pt>
                <c:pt idx="18">
                  <c:v>Jan 01</c:v>
                </c:pt>
                <c:pt idx="19">
                  <c:v>Feb 01</c:v>
                </c:pt>
                <c:pt idx="20">
                  <c:v>Mar 01</c:v>
                </c:pt>
                <c:pt idx="21">
                  <c:v>Apr 01</c:v>
                </c:pt>
                <c:pt idx="22">
                  <c:v>May 01</c:v>
                </c:pt>
                <c:pt idx="23">
                  <c:v>Jun 01</c:v>
                </c:pt>
                <c:pt idx="24">
                  <c:v>Jul 01</c:v>
                </c:pt>
                <c:pt idx="25">
                  <c:v>Aug 01</c:v>
                </c:pt>
                <c:pt idx="26">
                  <c:v>Sep 01</c:v>
                </c:pt>
                <c:pt idx="27">
                  <c:v>Oct 01</c:v>
                </c:pt>
                <c:pt idx="28">
                  <c:v>Nov 01</c:v>
                </c:pt>
                <c:pt idx="29">
                  <c:v>Dec 01</c:v>
                </c:pt>
                <c:pt idx="30">
                  <c:v>Jan 02</c:v>
                </c:pt>
                <c:pt idx="31">
                  <c:v>Feb 02</c:v>
                </c:pt>
                <c:pt idx="32">
                  <c:v>Mar 02</c:v>
                </c:pt>
                <c:pt idx="33">
                  <c:v>Apr 02</c:v>
                </c:pt>
                <c:pt idx="34">
                  <c:v>May 02</c:v>
                </c:pt>
                <c:pt idx="35">
                  <c:v>Jun 02</c:v>
                </c:pt>
                <c:pt idx="36">
                  <c:v>Jul 02</c:v>
                </c:pt>
                <c:pt idx="37">
                  <c:v>Sep 02</c:v>
                </c:pt>
                <c:pt idx="38">
                  <c:v>Oct 02</c:v>
                </c:pt>
                <c:pt idx="39">
                  <c:v>Dec 02</c:v>
                </c:pt>
              </c:strCache>
            </c:strRef>
          </c:cat>
          <c:val>
            <c:numRef>
              <c:f>Sheet1!$B$2:$B$41</c:f>
              <c:numCache>
                <c:formatCode>General</c:formatCode>
                <c:ptCount val="40"/>
                <c:pt idx="0">
                  <c:v>446</c:v>
                </c:pt>
                <c:pt idx="1">
                  <c:v>511</c:v>
                </c:pt>
                <c:pt idx="2">
                  <c:v>589</c:v>
                </c:pt>
                <c:pt idx="3">
                  <c:v>644</c:v>
                </c:pt>
                <c:pt idx="4">
                  <c:v>594</c:v>
                </c:pt>
                <c:pt idx="5">
                  <c:v>1252</c:v>
                </c:pt>
                <c:pt idx="6">
                  <c:v>2154</c:v>
                </c:pt>
                <c:pt idx="7">
                  <c:v>2474</c:v>
                </c:pt>
                <c:pt idx="8">
                  <c:v>3009</c:v>
                </c:pt>
                <c:pt idx="9">
                  <c:v>3003</c:v>
                </c:pt>
                <c:pt idx="10">
                  <c:v>3729</c:v>
                </c:pt>
                <c:pt idx="11">
                  <c:v>4833</c:v>
                </c:pt>
                <c:pt idx="12">
                  <c:v>4506</c:v>
                </c:pt>
                <c:pt idx="13">
                  <c:v>6213</c:v>
                </c:pt>
                <c:pt idx="14">
                  <c:v>6921</c:v>
                </c:pt>
                <c:pt idx="15">
                  <c:v>8333</c:v>
                </c:pt>
                <c:pt idx="16">
                  <c:v>10704</c:v>
                </c:pt>
                <c:pt idx="17">
                  <c:v>10075</c:v>
                </c:pt>
                <c:pt idx="18">
                  <c:v>8247</c:v>
                </c:pt>
                <c:pt idx="19">
                  <c:v>8445</c:v>
                </c:pt>
                <c:pt idx="20">
                  <c:v>10603</c:v>
                </c:pt>
                <c:pt idx="21">
                  <c:v>13798</c:v>
                </c:pt>
                <c:pt idx="22">
                  <c:v>17014</c:v>
                </c:pt>
                <c:pt idx="23">
                  <c:v>11818</c:v>
                </c:pt>
                <c:pt idx="24">
                  <c:v>7377</c:v>
                </c:pt>
                <c:pt idx="25">
                  <c:v>8070</c:v>
                </c:pt>
                <c:pt idx="26">
                  <c:v>8987</c:v>
                </c:pt>
                <c:pt idx="27">
                  <c:v>27937</c:v>
                </c:pt>
                <c:pt idx="28">
                  <c:v>22310</c:v>
                </c:pt>
                <c:pt idx="29">
                  <c:v>9661</c:v>
                </c:pt>
                <c:pt idx="30">
                  <c:v>16637</c:v>
                </c:pt>
                <c:pt idx="31">
                  <c:v>6590</c:v>
                </c:pt>
                <c:pt idx="32">
                  <c:v>2903</c:v>
                </c:pt>
                <c:pt idx="33">
                  <c:v>954</c:v>
                </c:pt>
                <c:pt idx="34">
                  <c:v>748</c:v>
                </c:pt>
                <c:pt idx="35">
                  <c:v>745</c:v>
                </c:pt>
                <c:pt idx="36">
                  <c:v>76</c:v>
                </c:pt>
                <c:pt idx="37">
                  <c:v>6</c:v>
                </c:pt>
                <c:pt idx="38">
                  <c:v>1</c:v>
                </c:pt>
                <c:pt idx="39">
                  <c:v>1</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spPr>
          <a:ln>
            <a:noFill/>
          </a:ln>
        </c:spPr>
        <c:txPr>
          <a:bodyPr/>
          <a:lstStyle/>
          <a:p>
            <a:pPr>
              <a:defRPr sz="1000">
                <a:solidFill>
                  <a:srgbClr val="5F6B7A"/>
                </a:solidFill>
                <a:latin typeface="Calibri"/>
              </a:defRPr>
            </a:pPr>
          </a:p>
        </c:txPr>
        <c:crossAx val="-2100718248"/>
        <c:crosses val="autoZero"/>
        <c:auto val="1"/>
        <c:lblAlgn val="ctr"/>
        <c:lblOffset val="100"/>
        <c:noMultiLvlLbl val="0"/>
      </c:catAx>
      <c:valAx>
        <c:axId val="-2100718248"/>
        <c:scaling>
          <c:orientation val="minMax"/>
        </c:scaling>
        <c:delete val="0"/>
        <c:axPos val="l"/>
        <c:majorGridlines>
          <c:spPr>
            <a:ln>
              <a:solidFill>
                <a:srgbClr val="D9DEE5"/>
              </a:solidFill>
            </a:ln>
          </c:spPr>
        </c:majorGridlines>
        <c:numFmt formatCode="#,##0" sourceLinked="0"/>
        <c:majorTickMark val="out"/>
        <c:minorTickMark val="none"/>
        <c:tickLblPos val="nextTo"/>
        <c:spPr>
          <a:ln>
            <a:noFill/>
          </a:ln>
        </c:spPr>
        <c:txPr>
          <a:bodyPr/>
          <a:lstStyle/>
          <a:p>
            <a:pPr>
              <a:defRPr sz="1000">
                <a:solidFill>
                  <a:srgbClr val="5F6B7A"/>
                </a:solidFill>
                <a:latin typeface="Calibri"/>
              </a:defRPr>
            </a:pPr>
          </a:p>
        </c:txPr>
        <c:crossAx val="-2101159928"/>
        <c:crosses val="autoZero"/>
        <c:crossBetween val="midCat"/>
      </c:valAx>
    </c:plotArea>
    <c:plotVisOnly val="1"/>
    <c:dispBlanksAs val="zero"/>
    <c:showDLblsOverMax val="0"/>
  </c:chart>
  <c:txPr>
    <a:bodyPr/>
    <a:lstStyle/>
    <a:p>
      <a:pPr>
        <a:defRPr sz="1800"/>
      </a:pPr>
      <a:endParaR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1: we stream the CMU archive, parse each message into clean fields, keep only the sender's own words, and remove duplicate copies with a content hash because Message-ID is unique per file. Everything lands in SQLite so the dashboard never re-parses. 517,401 files become 254,361 unique emails with zero parse failures. Task 2: the volume chart answers 'how does email volume change over time?'; the network view answers 'who communicates most frequently with whom?'.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3: an email is only flagged if the sender's own words ask to destroy records, keep something off the books, keep it secret or avoid a written record. Phrases are weighted strong, medium or weak; outside, rare or few recipients, weekend sending, and sending at an hour the sender rarely uses only add points. Off-hours is measured against each sender's own hourly pattern, so the corpus-wide header-time shift does not matter. Task 4: 1008 emails contain any phrase at all; filters for disclaimers, IT notices, negations leave 304, and setting aside press and bulk senders leaves 114 flagged. Each flag shows its sentence, score breakdown and source files. Precision is measured on top 20 plus 20 random flags by two independent reviewers.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274320"/>
          </a:xfrm>
          <a:prstGeom prst="rect">
            <a:avLst/>
          </a:prstGeom>
          <a:noFill/>
        </p:spPr>
        <p:txBody>
          <a:bodyPr wrap="square" lIns="0" rIns="0" tIns="0" bIns="0" anchor="t">
            <a:spAutoFit/>
          </a:bodyPr>
          <a:lstStyle/>
          <a:p>
            <a:pPr algn="l">
              <a:spcAft>
                <a:spcPts val="400"/>
              </a:spcAft>
            </a:pPr>
            <a:r>
              <a:rPr sz="1200" b="1" i="0">
                <a:solidFill>
                  <a:srgbClr val="E09F3E"/>
                </a:solidFill>
                <a:latin typeface="Calibri"/>
              </a:rPr>
              <a:t>TASKS 1–2  ·  DATA PIPELINE AND VISUALIZATION (R1)</a:t>
            </a:r>
          </a:p>
        </p:txBody>
      </p:sp>
      <p:sp>
        <p:nvSpPr>
          <p:cNvPr id="3" name="TextBox 2"/>
          <p:cNvSpPr txBox="1"/>
          <p:nvPr/>
        </p:nvSpPr>
        <p:spPr>
          <a:xfrm>
            <a:off x="457200" y="594360"/>
            <a:ext cx="11247120" cy="640080"/>
          </a:xfrm>
          <a:prstGeom prst="rect">
            <a:avLst/>
          </a:prstGeom>
          <a:noFill/>
        </p:spPr>
        <p:txBody>
          <a:bodyPr wrap="square" lIns="0" rIns="0" tIns="0" bIns="0" anchor="t">
            <a:spAutoFit/>
          </a:bodyPr>
          <a:lstStyle/>
          <a:p>
            <a:pPr algn="l">
              <a:spcAft>
                <a:spcPts val="400"/>
              </a:spcAft>
            </a:pPr>
            <a:r>
              <a:rPr sz="3000" b="1" i="0">
                <a:solidFill>
                  <a:srgbClr val="1B263B"/>
                </a:solidFill>
                <a:latin typeface="Cambria"/>
              </a:rPr>
              <a:t>From 517,401 raw files to an explorable evidence base</a:t>
            </a:r>
          </a:p>
        </p:txBody>
      </p:sp>
      <p:sp>
        <p:nvSpPr>
          <p:cNvPr id="4" name="Task1Card"/>
          <p:cNvSpPr/>
          <p:nvPr/>
        </p:nvSpPr>
        <p:spPr>
          <a:xfrm>
            <a:off x="457200" y="1463040"/>
            <a:ext cx="5623560" cy="489204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85800" y="1664208"/>
            <a:ext cx="384048" cy="384048"/>
          </a:xfrm>
          <a:prstGeom prst="ellipse">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6" name="TextBox 5"/>
          <p:cNvSpPr txBox="1"/>
          <p:nvPr/>
        </p:nvSpPr>
        <p:spPr>
          <a:xfrm>
            <a:off x="1188720" y="1700784"/>
            <a:ext cx="4754880" cy="365760"/>
          </a:xfrm>
          <a:prstGeom prst="rect">
            <a:avLst/>
          </a:prstGeom>
          <a:noFill/>
        </p:spPr>
        <p:txBody>
          <a:bodyPr wrap="square" lIns="0" rIns="0" tIns="0" bIns="0" anchor="t">
            <a:spAutoFit/>
          </a:bodyPr>
          <a:lstStyle/>
          <a:p>
            <a:pPr algn="l">
              <a:spcAft>
                <a:spcPts val="400"/>
              </a:spcAft>
            </a:pPr>
            <a:r>
              <a:rPr sz="2000" b="1" i="0">
                <a:solidFill>
                  <a:srgbClr val="1B263B"/>
                </a:solidFill>
                <a:latin typeface="Cambria"/>
              </a:rPr>
              <a:t>Preprocess and store</a:t>
            </a:r>
          </a:p>
        </p:txBody>
      </p:sp>
      <p:sp>
        <p:nvSpPr>
          <p:cNvPr id="7" name="TextBox 6"/>
          <p:cNvSpPr txBox="1"/>
          <p:nvPr/>
        </p:nvSpPr>
        <p:spPr>
          <a:xfrm>
            <a:off x="731520" y="2240280"/>
            <a:ext cx="1737360" cy="502920"/>
          </a:xfrm>
          <a:prstGeom prst="rect">
            <a:avLst/>
          </a:prstGeom>
          <a:noFill/>
        </p:spPr>
        <p:txBody>
          <a:bodyPr wrap="square" lIns="0" rIns="0" tIns="0" bIns="0" anchor="t">
            <a:spAutoFit/>
          </a:bodyPr>
          <a:lstStyle/>
          <a:p>
            <a:pPr algn="l">
              <a:spcAft>
                <a:spcPts val="400"/>
              </a:spcAft>
            </a:pPr>
            <a:r>
              <a:rPr sz="3000" b="1" i="0">
                <a:solidFill>
                  <a:srgbClr val="1B263B"/>
                </a:solidFill>
                <a:latin typeface="Cambria"/>
              </a:rPr>
              <a:t>517,401</a:t>
            </a:r>
          </a:p>
        </p:txBody>
      </p:sp>
      <p:sp>
        <p:nvSpPr>
          <p:cNvPr id="8" name="TextBox 7"/>
          <p:cNvSpPr txBox="1"/>
          <p:nvPr/>
        </p:nvSpPr>
        <p:spPr>
          <a:xfrm>
            <a:off x="731520" y="2770632"/>
            <a:ext cx="1737360" cy="365760"/>
          </a:xfrm>
          <a:prstGeom prst="rect">
            <a:avLst/>
          </a:prstGeom>
          <a:noFill/>
        </p:spPr>
        <p:txBody>
          <a:bodyPr wrap="square" lIns="0" rIns="0" tIns="0" bIns="0" anchor="t">
            <a:spAutoFit/>
          </a:bodyPr>
          <a:lstStyle/>
          <a:p>
            <a:pPr algn="l">
              <a:spcAft>
                <a:spcPts val="400"/>
              </a:spcAft>
            </a:pPr>
            <a:r>
              <a:rPr sz="1100" b="0" i="0">
                <a:solidFill>
                  <a:srgbClr val="5F6B7A"/>
                </a:solidFill>
                <a:latin typeface="Calibri"/>
              </a:rPr>
              <a:t>mailbox files streamed</a:t>
            </a:r>
          </a:p>
        </p:txBody>
      </p:sp>
      <p:sp>
        <p:nvSpPr>
          <p:cNvPr id="9" name="TextBox 8"/>
          <p:cNvSpPr txBox="1"/>
          <p:nvPr/>
        </p:nvSpPr>
        <p:spPr>
          <a:xfrm>
            <a:off x="2514600" y="2240280"/>
            <a:ext cx="1737360" cy="502920"/>
          </a:xfrm>
          <a:prstGeom prst="rect">
            <a:avLst/>
          </a:prstGeom>
          <a:noFill/>
        </p:spPr>
        <p:txBody>
          <a:bodyPr wrap="square" lIns="0" rIns="0" tIns="0" bIns="0" anchor="t">
            <a:spAutoFit/>
          </a:bodyPr>
          <a:lstStyle/>
          <a:p>
            <a:pPr algn="l">
              <a:spcAft>
                <a:spcPts val="400"/>
              </a:spcAft>
            </a:pPr>
            <a:r>
              <a:rPr sz="3000" b="1" i="0">
                <a:solidFill>
                  <a:srgbClr val="1B263B"/>
                </a:solidFill>
                <a:latin typeface="Cambria"/>
              </a:rPr>
              <a:t>254,361</a:t>
            </a:r>
          </a:p>
        </p:txBody>
      </p:sp>
      <p:sp>
        <p:nvSpPr>
          <p:cNvPr id="10" name="TextBox 9"/>
          <p:cNvSpPr txBox="1"/>
          <p:nvPr/>
        </p:nvSpPr>
        <p:spPr>
          <a:xfrm>
            <a:off x="2514600" y="2770632"/>
            <a:ext cx="1737360" cy="365760"/>
          </a:xfrm>
          <a:prstGeom prst="rect">
            <a:avLst/>
          </a:prstGeom>
          <a:noFill/>
        </p:spPr>
        <p:txBody>
          <a:bodyPr wrap="square" lIns="0" rIns="0" tIns="0" bIns="0" anchor="t">
            <a:spAutoFit/>
          </a:bodyPr>
          <a:lstStyle/>
          <a:p>
            <a:pPr algn="l">
              <a:spcAft>
                <a:spcPts val="400"/>
              </a:spcAft>
            </a:pPr>
            <a:r>
              <a:rPr sz="1100" b="0" i="0">
                <a:solidFill>
                  <a:srgbClr val="5F6B7A"/>
                </a:solidFill>
                <a:latin typeface="Calibri"/>
              </a:rPr>
              <a:t>unique emails after dedup</a:t>
            </a:r>
          </a:p>
        </p:txBody>
      </p:sp>
      <p:sp>
        <p:nvSpPr>
          <p:cNvPr id="11" name="TextBox 10"/>
          <p:cNvSpPr txBox="1"/>
          <p:nvPr/>
        </p:nvSpPr>
        <p:spPr>
          <a:xfrm>
            <a:off x="4297680" y="2240280"/>
            <a:ext cx="1645920" cy="502920"/>
          </a:xfrm>
          <a:prstGeom prst="rect">
            <a:avLst/>
          </a:prstGeom>
          <a:noFill/>
        </p:spPr>
        <p:txBody>
          <a:bodyPr wrap="square" lIns="0" rIns="0" tIns="0" bIns="0" anchor="t">
            <a:spAutoFit/>
          </a:bodyPr>
          <a:lstStyle/>
          <a:p>
            <a:pPr algn="l">
              <a:spcAft>
                <a:spcPts val="400"/>
              </a:spcAft>
            </a:pPr>
            <a:r>
              <a:rPr sz="3000" b="1" i="0">
                <a:solidFill>
                  <a:srgbClr val="1B263B"/>
                </a:solidFill>
                <a:latin typeface="Cambria"/>
              </a:rPr>
              <a:t>0</a:t>
            </a:r>
          </a:p>
        </p:txBody>
      </p:sp>
      <p:sp>
        <p:nvSpPr>
          <p:cNvPr id="12" name="TextBox 11"/>
          <p:cNvSpPr txBox="1"/>
          <p:nvPr/>
        </p:nvSpPr>
        <p:spPr>
          <a:xfrm>
            <a:off x="4297680" y="2770632"/>
            <a:ext cx="1645920" cy="365760"/>
          </a:xfrm>
          <a:prstGeom prst="rect">
            <a:avLst/>
          </a:prstGeom>
          <a:noFill/>
        </p:spPr>
        <p:txBody>
          <a:bodyPr wrap="square" lIns="0" rIns="0" tIns="0" bIns="0" anchor="t">
            <a:spAutoFit/>
          </a:bodyPr>
          <a:lstStyle/>
          <a:p>
            <a:pPr algn="l">
              <a:spcAft>
                <a:spcPts val="400"/>
              </a:spcAft>
            </a:pPr>
            <a:r>
              <a:rPr sz="1100" b="0" i="0">
                <a:solidFill>
                  <a:srgbClr val="5F6B7A"/>
                </a:solidFill>
                <a:latin typeface="Calibri"/>
              </a:rPr>
              <a:t>parse failures</a:t>
            </a:r>
          </a:p>
        </p:txBody>
      </p:sp>
      <p:sp>
        <p:nvSpPr>
          <p:cNvPr id="13" name="TextBox 12"/>
          <p:cNvSpPr txBox="1"/>
          <p:nvPr/>
        </p:nvSpPr>
        <p:spPr>
          <a:xfrm>
            <a:off x="731520" y="3310128"/>
            <a:ext cx="5166360" cy="548640"/>
          </a:xfrm>
          <a:prstGeom prst="rect">
            <a:avLst/>
          </a:prstGeom>
          <a:noFill/>
        </p:spPr>
        <p:txBody>
          <a:bodyPr wrap="square" lIns="0" rIns="0" tIns="0" bIns="0" anchor="t">
            <a:spAutoFit/>
          </a:bodyPr>
          <a:lstStyle/>
          <a:p>
            <a:pPr algn="l">
              <a:spcAft>
                <a:spcPts val="400"/>
              </a:spcAft>
            </a:pPr>
            <a:r>
              <a:rPr sz="1400" b="1" i="0">
                <a:solidFill>
                  <a:srgbClr val="415A77"/>
                </a:solidFill>
                <a:latin typeface="Calibri"/>
              </a:rPr>
              <a:t>Stream  </a:t>
            </a:r>
            <a:r>
              <a:rPr sz="1400" b="0" i="0">
                <a:solidFill>
                  <a:srgbClr val="22262E"/>
                </a:solidFill>
                <a:latin typeface="Calibri"/>
              </a:rPr>
              <a:t>the CMU .tar.gz one file at a time — never extracted</a:t>
            </a:r>
          </a:p>
        </p:txBody>
      </p:sp>
      <p:sp>
        <p:nvSpPr>
          <p:cNvPr id="14" name="TextBox 13"/>
          <p:cNvSpPr txBox="1"/>
          <p:nvPr/>
        </p:nvSpPr>
        <p:spPr>
          <a:xfrm>
            <a:off x="731520" y="3877056"/>
            <a:ext cx="5166360" cy="548640"/>
          </a:xfrm>
          <a:prstGeom prst="rect">
            <a:avLst/>
          </a:prstGeom>
          <a:noFill/>
        </p:spPr>
        <p:txBody>
          <a:bodyPr wrap="square" lIns="0" rIns="0" tIns="0" bIns="0" anchor="t">
            <a:spAutoFit/>
          </a:bodyPr>
          <a:lstStyle/>
          <a:p>
            <a:pPr algn="l">
              <a:spcAft>
                <a:spcPts val="400"/>
              </a:spcAft>
            </a:pPr>
            <a:r>
              <a:rPr sz="1400" b="1" i="0">
                <a:solidFill>
                  <a:srgbClr val="415A77"/>
                </a:solidFill>
                <a:latin typeface="Calibri"/>
              </a:rPr>
              <a:t>Parse  </a:t>
            </a:r>
            <a:r>
              <a:rPr sz="1400" b="0" i="0">
                <a:solidFill>
                  <a:srgbClr val="22262E"/>
                </a:solidFill>
                <a:latin typeface="Calibri"/>
              </a:rPr>
              <a:t>headers → sender, To/Cc (Bcc duplicates removed), UTC date; decode quoted-printable</a:t>
            </a:r>
          </a:p>
        </p:txBody>
      </p:sp>
      <p:sp>
        <p:nvSpPr>
          <p:cNvPr id="15" name="TextBox 14"/>
          <p:cNvSpPr txBox="1"/>
          <p:nvPr/>
        </p:nvSpPr>
        <p:spPr>
          <a:xfrm>
            <a:off x="731520" y="4443984"/>
            <a:ext cx="5166360" cy="548640"/>
          </a:xfrm>
          <a:prstGeom prst="rect">
            <a:avLst/>
          </a:prstGeom>
          <a:noFill/>
        </p:spPr>
        <p:txBody>
          <a:bodyPr wrap="square" lIns="0" rIns="0" tIns="0" bIns="0" anchor="t">
            <a:spAutoFit/>
          </a:bodyPr>
          <a:lstStyle/>
          <a:p>
            <a:pPr algn="l">
              <a:spcAft>
                <a:spcPts val="400"/>
              </a:spcAft>
            </a:pPr>
            <a:r>
              <a:rPr sz="1400" b="1" i="0">
                <a:solidFill>
                  <a:srgbClr val="415A77"/>
                </a:solidFill>
                <a:latin typeface="Calibri"/>
              </a:rPr>
              <a:t>Clean  </a:t>
            </a:r>
            <a:r>
              <a:rPr sz="1400" b="0" i="0">
                <a:solidFill>
                  <a:srgbClr val="22262E"/>
                </a:solidFill>
                <a:latin typeface="Calibri"/>
              </a:rPr>
              <a:t>keep the sender's own words: cut quoted replies, strip legal disclaimers</a:t>
            </a:r>
          </a:p>
        </p:txBody>
      </p:sp>
      <p:sp>
        <p:nvSpPr>
          <p:cNvPr id="16" name="TextBox 15"/>
          <p:cNvSpPr txBox="1"/>
          <p:nvPr/>
        </p:nvSpPr>
        <p:spPr>
          <a:xfrm>
            <a:off x="731520" y="5010912"/>
            <a:ext cx="5166360" cy="548640"/>
          </a:xfrm>
          <a:prstGeom prst="rect">
            <a:avLst/>
          </a:prstGeom>
          <a:noFill/>
        </p:spPr>
        <p:txBody>
          <a:bodyPr wrap="square" lIns="0" rIns="0" tIns="0" bIns="0" anchor="t">
            <a:spAutoFit/>
          </a:bodyPr>
          <a:lstStyle/>
          <a:p>
            <a:pPr algn="l">
              <a:spcAft>
                <a:spcPts val="400"/>
              </a:spcAft>
            </a:pPr>
            <a:r>
              <a:rPr sz="1400" b="1" i="0">
                <a:solidFill>
                  <a:srgbClr val="415A77"/>
                </a:solidFill>
                <a:latin typeface="Calibri"/>
              </a:rPr>
              <a:t>Dedup  </a:t>
            </a:r>
            <a:r>
              <a:rPr sz="1400" b="0" i="0">
                <a:solidFill>
                  <a:srgbClr val="22262E"/>
                </a:solidFill>
                <a:latin typeface="Calibri"/>
              </a:rPr>
              <a:t>content hash of sender+date+subject+body (Message-ID is unique per file)</a:t>
            </a:r>
          </a:p>
        </p:txBody>
      </p:sp>
      <p:sp>
        <p:nvSpPr>
          <p:cNvPr id="17" name="TextBox 16"/>
          <p:cNvSpPr txBox="1"/>
          <p:nvPr/>
        </p:nvSpPr>
        <p:spPr>
          <a:xfrm>
            <a:off x="731520" y="5577840"/>
            <a:ext cx="5166360" cy="548640"/>
          </a:xfrm>
          <a:prstGeom prst="rect">
            <a:avLst/>
          </a:prstGeom>
          <a:noFill/>
        </p:spPr>
        <p:txBody>
          <a:bodyPr wrap="square" lIns="0" rIns="0" tIns="0" bIns="0" anchor="t">
            <a:spAutoFit/>
          </a:bodyPr>
          <a:lstStyle/>
          <a:p>
            <a:pPr algn="l">
              <a:spcAft>
                <a:spcPts val="400"/>
              </a:spcAft>
            </a:pPr>
            <a:r>
              <a:rPr sz="1400" b="1" i="0">
                <a:solidFill>
                  <a:srgbClr val="415A77"/>
                </a:solidFill>
                <a:latin typeface="Calibri"/>
              </a:rPr>
              <a:t>Store  </a:t>
            </a:r>
            <a:r>
              <a:rPr sz="1400" b="0" i="0">
                <a:solidFill>
                  <a:srgbClr val="22262E"/>
                </a:solidFill>
                <a:latin typeface="Calibri"/>
              </a:rPr>
              <a:t>SQLite: emails, recipients, source paths, scores, edges, people — indexed</a:t>
            </a:r>
          </a:p>
        </p:txBody>
      </p:sp>
      <p:sp>
        <p:nvSpPr>
          <p:cNvPr id="18" name="Task2Card"/>
          <p:cNvSpPr/>
          <p:nvPr/>
        </p:nvSpPr>
        <p:spPr>
          <a:xfrm>
            <a:off x="6263640" y="1463040"/>
            <a:ext cx="5486400" cy="489204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92240" y="1664208"/>
            <a:ext cx="384048" cy="384048"/>
          </a:xfrm>
          <a:prstGeom prst="ellipse">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20" name="TextBox 19"/>
          <p:cNvSpPr txBox="1"/>
          <p:nvPr/>
        </p:nvSpPr>
        <p:spPr>
          <a:xfrm>
            <a:off x="6995160" y="1700784"/>
            <a:ext cx="4572000" cy="365760"/>
          </a:xfrm>
          <a:prstGeom prst="rect">
            <a:avLst/>
          </a:prstGeom>
          <a:noFill/>
        </p:spPr>
        <p:txBody>
          <a:bodyPr wrap="square" lIns="0" rIns="0" tIns="0" bIns="0" anchor="t">
            <a:spAutoFit/>
          </a:bodyPr>
          <a:lstStyle/>
          <a:p>
            <a:pPr algn="l">
              <a:spcAft>
                <a:spcPts val="400"/>
              </a:spcAft>
            </a:pPr>
            <a:r>
              <a:rPr sz="2000" b="1" i="0">
                <a:solidFill>
                  <a:srgbClr val="1B263B"/>
                </a:solidFill>
                <a:latin typeface="Cambria"/>
              </a:rPr>
              <a:t>Visualize the corpus (R1)</a:t>
            </a:r>
          </a:p>
        </p:txBody>
      </p:sp>
      <p:sp>
        <p:nvSpPr>
          <p:cNvPr id="21" name="TextBox 20"/>
          <p:cNvSpPr txBox="1"/>
          <p:nvPr/>
        </p:nvSpPr>
        <p:spPr>
          <a:xfrm>
            <a:off x="6492240" y="2194560"/>
            <a:ext cx="5074920" cy="320040"/>
          </a:xfrm>
          <a:prstGeom prst="rect">
            <a:avLst/>
          </a:prstGeom>
          <a:noFill/>
        </p:spPr>
        <p:txBody>
          <a:bodyPr wrap="square" lIns="0" rIns="0" tIns="0" bIns="0" anchor="t">
            <a:spAutoFit/>
          </a:bodyPr>
          <a:lstStyle/>
          <a:p>
            <a:pPr algn="l">
              <a:spcAft>
                <a:spcPts val="400"/>
              </a:spcAft>
            </a:pPr>
            <a:r>
              <a:rPr sz="1400" b="1" i="0">
                <a:solidFill>
                  <a:srgbClr val="22262E"/>
                </a:solidFill>
                <a:latin typeface="Calibri"/>
              </a:rPr>
              <a:t>How does email volume change over time?</a:t>
            </a:r>
          </a:p>
        </p:txBody>
      </p:sp>
      <p:graphicFrame>
        <p:nvGraphicFramePr>
          <p:cNvPr id="22" name="VolumeChart"/>
          <p:cNvGraphicFramePr>
            <a:graphicFrameLocks noGrp="1"/>
          </p:cNvGraphicFramePr>
          <p:nvPr/>
        </p:nvGraphicFramePr>
        <p:xfrm>
          <a:off x="6400800" y="2560320"/>
          <a:ext cx="5212080" cy="2788920"/>
        </p:xfrm>
        <a:graphic>
          <a:graphicData uri="http://schemas.openxmlformats.org/drawingml/2006/chart">
            <c:chart xmlns:c="http://schemas.openxmlformats.org/drawingml/2006/chart" r:id="rId2"/>
          </a:graphicData>
        </a:graphic>
      </p:graphicFrame>
      <p:sp>
        <p:nvSpPr>
          <p:cNvPr id="23" name="TextBox 22"/>
          <p:cNvSpPr txBox="1"/>
          <p:nvPr/>
        </p:nvSpPr>
        <p:spPr>
          <a:xfrm>
            <a:off x="6492240" y="5440680"/>
            <a:ext cx="5074920" cy="822960"/>
          </a:xfrm>
          <a:prstGeom prst="rect">
            <a:avLst/>
          </a:prstGeom>
          <a:noFill/>
        </p:spPr>
        <p:txBody>
          <a:bodyPr wrap="square" lIns="0" rIns="0" tIns="0" bIns="0" anchor="t">
            <a:spAutoFit/>
          </a:bodyPr>
          <a:lstStyle/>
          <a:p>
            <a:pPr algn="l">
              <a:spcAft>
                <a:spcPts val="400"/>
              </a:spcAft>
            </a:pPr>
            <a:r>
              <a:rPr sz="1200" b="1" i="0">
                <a:solidFill>
                  <a:srgbClr val="5F6B7A"/>
                </a:solidFill>
                <a:latin typeface="Calibri"/>
              </a:rPr>
              <a:t>Peak just before the Oct 2001 loss disclosure. </a:t>
            </a:r>
            <a:r>
              <a:rPr sz="1200" b="0" i="0">
                <a:solidFill>
                  <a:srgbClr val="5F6B7A"/>
                </a:solidFill>
                <a:latin typeface="Calibri"/>
              </a:rPr>
              <a:t>Also in the app: a who-emails-whom network of the 30 busiest people (360,243 sender→recipient pairs) and a top-senders chart.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274320"/>
          </a:xfrm>
          <a:prstGeom prst="rect">
            <a:avLst/>
          </a:prstGeom>
          <a:noFill/>
        </p:spPr>
        <p:txBody>
          <a:bodyPr wrap="square" lIns="0" rIns="0" tIns="0" bIns="0" anchor="t">
            <a:spAutoFit/>
          </a:bodyPr>
          <a:lstStyle/>
          <a:p>
            <a:pPr algn="l">
              <a:spcAft>
                <a:spcPts val="400"/>
              </a:spcAft>
            </a:pPr>
            <a:r>
              <a:rPr sz="1200" b="1" i="0">
                <a:solidFill>
                  <a:srgbClr val="E09F3E"/>
                </a:solidFill>
                <a:latin typeface="Calibri"/>
              </a:rPr>
              <a:t>TASKS 3–4  ·  EXPLAINABLE DETECTION (R2) AND VALIDATION</a:t>
            </a:r>
          </a:p>
        </p:txBody>
      </p:sp>
      <p:sp>
        <p:nvSpPr>
          <p:cNvPr id="3" name="TextBox 2"/>
          <p:cNvSpPr txBox="1"/>
          <p:nvPr/>
        </p:nvSpPr>
        <p:spPr>
          <a:xfrm>
            <a:off x="457200" y="594360"/>
            <a:ext cx="11247120" cy="640080"/>
          </a:xfrm>
          <a:prstGeom prst="rect">
            <a:avLst/>
          </a:prstGeom>
          <a:noFill/>
        </p:spPr>
        <p:txBody>
          <a:bodyPr wrap="square" lIns="0" rIns="0" tIns="0" bIns="0" anchor="t">
            <a:spAutoFit/>
          </a:bodyPr>
          <a:lstStyle/>
          <a:p>
            <a:pPr algn="l">
              <a:spcAft>
                <a:spcPts val="400"/>
              </a:spcAft>
            </a:pPr>
            <a:r>
              <a:rPr sz="3000" b="1" i="0">
                <a:solidFill>
                  <a:srgbClr val="1B263B"/>
                </a:solidFill>
                <a:latin typeface="Cambria"/>
              </a:rPr>
              <a:t>Flags need the sender's own words — context only adds</a:t>
            </a:r>
          </a:p>
        </p:txBody>
      </p:sp>
      <p:sp>
        <p:nvSpPr>
          <p:cNvPr id="4" name="Task3Card"/>
          <p:cNvSpPr/>
          <p:nvPr/>
        </p:nvSpPr>
        <p:spPr>
          <a:xfrm>
            <a:off x="457200" y="1463040"/>
            <a:ext cx="6035040" cy="489204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85800" y="1664208"/>
            <a:ext cx="384048" cy="384048"/>
          </a:xfrm>
          <a:prstGeom prst="ellipse">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6" name="TextBox 5"/>
          <p:cNvSpPr txBox="1"/>
          <p:nvPr/>
        </p:nvSpPr>
        <p:spPr>
          <a:xfrm>
            <a:off x="1188720" y="1700784"/>
            <a:ext cx="5120640" cy="365760"/>
          </a:xfrm>
          <a:prstGeom prst="rect">
            <a:avLst/>
          </a:prstGeom>
          <a:noFill/>
        </p:spPr>
        <p:txBody>
          <a:bodyPr wrap="square" lIns="0" rIns="0" tIns="0" bIns="0" anchor="t">
            <a:spAutoFit/>
          </a:bodyPr>
          <a:lstStyle/>
          <a:p>
            <a:pPr algn="l">
              <a:spcAft>
                <a:spcPts val="400"/>
              </a:spcAft>
            </a:pPr>
            <a:r>
              <a:rPr sz="2000" b="1" i="0">
                <a:solidFill>
                  <a:srgbClr val="1B263B"/>
                </a:solidFill>
                <a:latin typeface="Cambria"/>
              </a:rPr>
              <a:t>Score each email for review</a:t>
            </a:r>
          </a:p>
        </p:txBody>
      </p:sp>
      <p:sp>
        <p:nvSpPr>
          <p:cNvPr id="7" name="Formula"/>
          <p:cNvSpPr/>
          <p:nvPr/>
        </p:nvSpPr>
        <p:spPr>
          <a:xfrm>
            <a:off x="731520" y="2212848"/>
            <a:ext cx="5486400" cy="502920"/>
          </a:xfrm>
          <a:prstGeom prst="roundRect">
            <a:avLst>
              <a:gd name="adj" fmla="val 8000"/>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212848"/>
            <a:ext cx="5212080" cy="502920"/>
          </a:xfrm>
          <a:prstGeom prst="rect">
            <a:avLst/>
          </a:prstGeom>
          <a:noFill/>
        </p:spPr>
        <p:txBody>
          <a:bodyPr wrap="square" lIns="0" rIns="0" tIns="0" bIns="0" anchor="ctr">
            <a:spAutoFit/>
          </a:bodyPr>
          <a:lstStyle/>
          <a:p>
            <a:pPr algn="l">
              <a:spcAft>
                <a:spcPts val="400"/>
              </a:spcAft>
            </a:pPr>
            <a:r>
              <a:rPr sz="1500" b="1" i="0">
                <a:solidFill>
                  <a:srgbClr val="FFFFFF"/>
                </a:solidFill>
                <a:latin typeface="Calibri"/>
              </a:rPr>
              <a:t>score = K + C + T</a:t>
            </a:r>
            <a:r>
              <a:rPr sz="1500" b="0" i="0">
                <a:solidFill>
                  <a:srgbClr val="C9D3E0"/>
                </a:solidFill>
                <a:latin typeface="Calibri"/>
              </a:rPr>
              <a:t>   (max 100, only if a language rule fired)</a:t>
            </a:r>
          </a:p>
        </p:txBody>
      </p:sp>
      <p:sp>
        <p:nvSpPr>
          <p:cNvPr id="9" name="TextBox 8"/>
          <p:cNvSpPr txBox="1"/>
          <p:nvPr/>
        </p:nvSpPr>
        <p:spPr>
          <a:xfrm>
            <a:off x="731520" y="2880360"/>
            <a:ext cx="1143000" cy="411480"/>
          </a:xfrm>
          <a:prstGeom prst="rect">
            <a:avLst/>
          </a:prstGeom>
          <a:noFill/>
        </p:spPr>
        <p:txBody>
          <a:bodyPr wrap="square" lIns="0" rIns="0" tIns="0" bIns="0" anchor="t">
            <a:spAutoFit/>
          </a:bodyPr>
          <a:lstStyle/>
          <a:p>
            <a:pPr algn="l">
              <a:spcAft>
                <a:spcPts val="400"/>
              </a:spcAft>
            </a:pPr>
            <a:r>
              <a:rPr sz="1300" b="1" i="0">
                <a:solidFill>
                  <a:srgbClr val="415A77"/>
                </a:solidFill>
                <a:latin typeface="Calibri"/>
              </a:rPr>
              <a:t>K  language</a:t>
            </a:r>
          </a:p>
        </p:txBody>
      </p:sp>
      <p:sp>
        <p:nvSpPr>
          <p:cNvPr id="10" name="TextBox 9"/>
          <p:cNvSpPr txBox="1"/>
          <p:nvPr/>
        </p:nvSpPr>
        <p:spPr>
          <a:xfrm>
            <a:off x="1874519" y="2880360"/>
            <a:ext cx="960120" cy="411480"/>
          </a:xfrm>
          <a:prstGeom prst="rect">
            <a:avLst/>
          </a:prstGeom>
          <a:noFill/>
        </p:spPr>
        <p:txBody>
          <a:bodyPr wrap="square" lIns="0" rIns="0" tIns="0" bIns="0" anchor="t">
            <a:spAutoFit/>
          </a:bodyPr>
          <a:lstStyle/>
          <a:p>
            <a:pPr algn="l">
              <a:spcAft>
                <a:spcPts val="400"/>
              </a:spcAft>
            </a:pPr>
            <a:r>
              <a:rPr sz="1300" b="1" i="0">
                <a:solidFill>
                  <a:srgbClr val="E09F3E"/>
                </a:solidFill>
                <a:latin typeface="Calibri"/>
              </a:rPr>
              <a:t>strong 40</a:t>
            </a:r>
          </a:p>
        </p:txBody>
      </p:sp>
      <p:sp>
        <p:nvSpPr>
          <p:cNvPr id="11" name="TextBox 10"/>
          <p:cNvSpPr txBox="1"/>
          <p:nvPr/>
        </p:nvSpPr>
        <p:spPr>
          <a:xfrm>
            <a:off x="2834640" y="2880360"/>
            <a:ext cx="3429000" cy="457200"/>
          </a:xfrm>
          <a:prstGeom prst="rect">
            <a:avLst/>
          </a:prstGeom>
          <a:noFill/>
        </p:spPr>
        <p:txBody>
          <a:bodyPr wrap="square" lIns="0" rIns="0" tIns="0" bIns="0" anchor="t">
            <a:spAutoFit/>
          </a:bodyPr>
          <a:lstStyle/>
          <a:p>
            <a:pPr algn="l">
              <a:spcAft>
                <a:spcPts val="400"/>
              </a:spcAft>
            </a:pPr>
            <a:r>
              <a:rPr sz="1200" b="0" i="0">
                <a:solidFill>
                  <a:srgbClr val="22262E"/>
                </a:solidFill>
                <a:latin typeface="Calibri"/>
              </a:rPr>
              <a:t>destroy/shred records · "off the books" · "don't put this in writing"</a:t>
            </a:r>
          </a:p>
        </p:txBody>
      </p:sp>
      <p:sp>
        <p:nvSpPr>
          <p:cNvPr id="12" name="TextBox 11"/>
          <p:cNvSpPr txBox="1"/>
          <p:nvPr/>
        </p:nvSpPr>
        <p:spPr>
          <a:xfrm>
            <a:off x="731520" y="3337560"/>
            <a:ext cx="1143000" cy="411480"/>
          </a:xfrm>
          <a:prstGeom prst="rect">
            <a:avLst/>
          </a:prstGeom>
          <a:noFill/>
        </p:spPr>
        <p:txBody>
          <a:bodyPr wrap="square" lIns="0" rIns="0" tIns="0" bIns="0" anchor="t">
            <a:spAutoFit/>
          </a:bodyPr>
          <a:lstStyle/>
          <a:p>
            <a:pPr algn="l">
              <a:spcAft>
                <a:spcPts val="400"/>
              </a:spcAft>
            </a:pPr>
            <a:r>
              <a:rPr sz="1300" b="1" i="0">
                <a:solidFill>
                  <a:srgbClr val="415A77"/>
                </a:solidFill>
                <a:latin typeface="Calibri"/>
              </a:rPr>
              <a:t/>
            </a:r>
          </a:p>
        </p:txBody>
      </p:sp>
      <p:sp>
        <p:nvSpPr>
          <p:cNvPr id="13" name="TextBox 12"/>
          <p:cNvSpPr txBox="1"/>
          <p:nvPr/>
        </p:nvSpPr>
        <p:spPr>
          <a:xfrm>
            <a:off x="1874519" y="3337560"/>
            <a:ext cx="960120" cy="411480"/>
          </a:xfrm>
          <a:prstGeom prst="rect">
            <a:avLst/>
          </a:prstGeom>
          <a:noFill/>
        </p:spPr>
        <p:txBody>
          <a:bodyPr wrap="square" lIns="0" rIns="0" tIns="0" bIns="0" anchor="t">
            <a:spAutoFit/>
          </a:bodyPr>
          <a:lstStyle/>
          <a:p>
            <a:pPr algn="l">
              <a:spcAft>
                <a:spcPts val="400"/>
              </a:spcAft>
            </a:pPr>
            <a:r>
              <a:rPr sz="1300" b="1" i="0">
                <a:solidFill>
                  <a:srgbClr val="E09F3E"/>
                </a:solidFill>
                <a:latin typeface="Calibri"/>
              </a:rPr>
              <a:t>medium 25</a:t>
            </a:r>
          </a:p>
        </p:txBody>
      </p:sp>
      <p:sp>
        <p:nvSpPr>
          <p:cNvPr id="14" name="TextBox 13"/>
          <p:cNvSpPr txBox="1"/>
          <p:nvPr/>
        </p:nvSpPr>
        <p:spPr>
          <a:xfrm>
            <a:off x="2834640" y="3337560"/>
            <a:ext cx="3429000" cy="457200"/>
          </a:xfrm>
          <a:prstGeom prst="rect">
            <a:avLst/>
          </a:prstGeom>
          <a:noFill/>
        </p:spPr>
        <p:txBody>
          <a:bodyPr wrap="square" lIns="0" rIns="0" tIns="0" bIns="0" anchor="t">
            <a:spAutoFit/>
          </a:bodyPr>
          <a:lstStyle/>
          <a:p>
            <a:pPr algn="l">
              <a:spcAft>
                <a:spcPts val="400"/>
              </a:spcAft>
            </a:pPr>
            <a:r>
              <a:rPr sz="1200" b="0" i="0">
                <a:solidFill>
                  <a:srgbClr val="22262E"/>
                </a:solidFill>
                <a:latin typeface="Calibri"/>
              </a:rPr>
              <a:t>"keep this quiet / confidential" · "between you and me" · "off the record"</a:t>
            </a:r>
          </a:p>
        </p:txBody>
      </p:sp>
      <p:sp>
        <p:nvSpPr>
          <p:cNvPr id="15" name="TextBox 14"/>
          <p:cNvSpPr txBox="1"/>
          <p:nvPr/>
        </p:nvSpPr>
        <p:spPr>
          <a:xfrm>
            <a:off x="731520" y="3794760"/>
            <a:ext cx="1143000" cy="411480"/>
          </a:xfrm>
          <a:prstGeom prst="rect">
            <a:avLst/>
          </a:prstGeom>
          <a:noFill/>
        </p:spPr>
        <p:txBody>
          <a:bodyPr wrap="square" lIns="0" rIns="0" tIns="0" bIns="0" anchor="t">
            <a:spAutoFit/>
          </a:bodyPr>
          <a:lstStyle/>
          <a:p>
            <a:pPr algn="l">
              <a:spcAft>
                <a:spcPts val="400"/>
              </a:spcAft>
            </a:pPr>
            <a:r>
              <a:rPr sz="1300" b="1" i="0">
                <a:solidFill>
                  <a:srgbClr val="415A77"/>
                </a:solidFill>
                <a:latin typeface="Calibri"/>
              </a:rPr>
              <a:t/>
            </a:r>
          </a:p>
        </p:txBody>
      </p:sp>
      <p:sp>
        <p:nvSpPr>
          <p:cNvPr id="16" name="TextBox 15"/>
          <p:cNvSpPr txBox="1"/>
          <p:nvPr/>
        </p:nvSpPr>
        <p:spPr>
          <a:xfrm>
            <a:off x="1874519" y="3794760"/>
            <a:ext cx="960120" cy="411480"/>
          </a:xfrm>
          <a:prstGeom prst="rect">
            <a:avLst/>
          </a:prstGeom>
          <a:noFill/>
        </p:spPr>
        <p:txBody>
          <a:bodyPr wrap="square" lIns="0" rIns="0" tIns="0" bIns="0" anchor="t">
            <a:spAutoFit/>
          </a:bodyPr>
          <a:lstStyle/>
          <a:p>
            <a:pPr algn="l">
              <a:spcAft>
                <a:spcPts val="400"/>
              </a:spcAft>
            </a:pPr>
            <a:r>
              <a:rPr sz="1300" b="1" i="0">
                <a:solidFill>
                  <a:srgbClr val="E09F3E"/>
                </a:solidFill>
                <a:latin typeface="Calibri"/>
              </a:rPr>
              <a:t>weak 15</a:t>
            </a:r>
          </a:p>
        </p:txBody>
      </p:sp>
      <p:sp>
        <p:nvSpPr>
          <p:cNvPr id="17" name="TextBox 16"/>
          <p:cNvSpPr txBox="1"/>
          <p:nvPr/>
        </p:nvSpPr>
        <p:spPr>
          <a:xfrm>
            <a:off x="2834640" y="3794760"/>
            <a:ext cx="3429000" cy="457200"/>
          </a:xfrm>
          <a:prstGeom prst="rect">
            <a:avLst/>
          </a:prstGeom>
          <a:noFill/>
        </p:spPr>
        <p:txBody>
          <a:bodyPr wrap="square" lIns="0" rIns="0" tIns="0" bIns="0" anchor="t">
            <a:spAutoFit/>
          </a:bodyPr>
          <a:lstStyle/>
          <a:p>
            <a:pPr algn="l">
              <a:spcAft>
                <a:spcPts val="400"/>
              </a:spcAft>
            </a:pPr>
            <a:r>
              <a:rPr sz="1200" b="0" i="0">
                <a:solidFill>
                  <a:srgbClr val="22262E"/>
                </a:solidFill>
                <a:latin typeface="Calibri"/>
              </a:rPr>
              <a:t>"don't forward this" · "eyes only" · "delete this email"</a:t>
            </a:r>
          </a:p>
        </p:txBody>
      </p:sp>
      <p:sp>
        <p:nvSpPr>
          <p:cNvPr id="18" name="TextBox 17"/>
          <p:cNvSpPr txBox="1"/>
          <p:nvPr/>
        </p:nvSpPr>
        <p:spPr>
          <a:xfrm>
            <a:off x="731520" y="4251960"/>
            <a:ext cx="1143000" cy="411480"/>
          </a:xfrm>
          <a:prstGeom prst="rect">
            <a:avLst/>
          </a:prstGeom>
          <a:noFill/>
        </p:spPr>
        <p:txBody>
          <a:bodyPr wrap="square" lIns="0" rIns="0" tIns="0" bIns="0" anchor="t">
            <a:spAutoFit/>
          </a:bodyPr>
          <a:lstStyle/>
          <a:p>
            <a:pPr algn="l">
              <a:spcAft>
                <a:spcPts val="400"/>
              </a:spcAft>
            </a:pPr>
            <a:r>
              <a:rPr sz="1300" b="1" i="0">
                <a:solidFill>
                  <a:srgbClr val="415A77"/>
                </a:solidFill>
                <a:latin typeface="Calibri"/>
              </a:rPr>
              <a:t/>
            </a:r>
          </a:p>
        </p:txBody>
      </p:sp>
      <p:sp>
        <p:nvSpPr>
          <p:cNvPr id="19" name="TextBox 18"/>
          <p:cNvSpPr txBox="1"/>
          <p:nvPr/>
        </p:nvSpPr>
        <p:spPr>
          <a:xfrm>
            <a:off x="1874519" y="4251960"/>
            <a:ext cx="960120" cy="411480"/>
          </a:xfrm>
          <a:prstGeom prst="rect">
            <a:avLst/>
          </a:prstGeom>
          <a:noFill/>
        </p:spPr>
        <p:txBody>
          <a:bodyPr wrap="square" lIns="0" rIns="0" tIns="0" bIns="0" anchor="t">
            <a:spAutoFit/>
          </a:bodyPr>
          <a:lstStyle/>
          <a:p>
            <a:pPr algn="l">
              <a:spcAft>
                <a:spcPts val="400"/>
              </a:spcAft>
            </a:pPr>
            <a:r>
              <a:rPr sz="1300" b="1" i="0">
                <a:solidFill>
                  <a:srgbClr val="E09F3E"/>
                </a:solidFill>
                <a:latin typeface="Calibri"/>
              </a:rPr>
              <a:t>+10 topic</a:t>
            </a:r>
          </a:p>
        </p:txBody>
      </p:sp>
      <p:sp>
        <p:nvSpPr>
          <p:cNvPr id="20" name="TextBox 19"/>
          <p:cNvSpPr txBox="1"/>
          <p:nvPr/>
        </p:nvSpPr>
        <p:spPr>
          <a:xfrm>
            <a:off x="2834640" y="4251960"/>
            <a:ext cx="3429000" cy="457200"/>
          </a:xfrm>
          <a:prstGeom prst="rect">
            <a:avLst/>
          </a:prstGeom>
          <a:noFill/>
        </p:spPr>
        <p:txBody>
          <a:bodyPr wrap="square" lIns="0" rIns="0" tIns="0" bIns="0" anchor="t">
            <a:spAutoFit/>
          </a:bodyPr>
          <a:lstStyle/>
          <a:p>
            <a:pPr algn="l">
              <a:spcAft>
                <a:spcPts val="400"/>
              </a:spcAft>
            </a:pPr>
            <a:r>
              <a:rPr sz="1200" b="0" i="0">
                <a:solidFill>
                  <a:srgbClr val="22262E"/>
                </a:solidFill>
                <a:latin typeface="Calibri"/>
              </a:rPr>
              <a:t>LJM, SPE, Andersen, SEC, mark-to-market, document retention…</a:t>
            </a:r>
          </a:p>
        </p:txBody>
      </p:sp>
      <p:sp>
        <p:nvSpPr>
          <p:cNvPr id="21" name="TextBox 20"/>
          <p:cNvSpPr txBox="1"/>
          <p:nvPr/>
        </p:nvSpPr>
        <p:spPr>
          <a:xfrm>
            <a:off x="731520" y="4709160"/>
            <a:ext cx="1143000" cy="411480"/>
          </a:xfrm>
          <a:prstGeom prst="rect">
            <a:avLst/>
          </a:prstGeom>
          <a:noFill/>
        </p:spPr>
        <p:txBody>
          <a:bodyPr wrap="square" lIns="0" rIns="0" tIns="0" bIns="0" anchor="t">
            <a:spAutoFit/>
          </a:bodyPr>
          <a:lstStyle/>
          <a:p>
            <a:pPr algn="l">
              <a:spcAft>
                <a:spcPts val="400"/>
              </a:spcAft>
            </a:pPr>
            <a:r>
              <a:rPr sz="1300" b="1" i="0">
                <a:solidFill>
                  <a:srgbClr val="415A77"/>
                </a:solidFill>
                <a:latin typeface="Calibri"/>
              </a:rPr>
              <a:t>C  context</a:t>
            </a:r>
          </a:p>
        </p:txBody>
      </p:sp>
      <p:sp>
        <p:nvSpPr>
          <p:cNvPr id="22" name="TextBox 21"/>
          <p:cNvSpPr txBox="1"/>
          <p:nvPr/>
        </p:nvSpPr>
        <p:spPr>
          <a:xfrm>
            <a:off x="1874519" y="4709160"/>
            <a:ext cx="960120" cy="411480"/>
          </a:xfrm>
          <a:prstGeom prst="rect">
            <a:avLst/>
          </a:prstGeom>
          <a:noFill/>
        </p:spPr>
        <p:txBody>
          <a:bodyPr wrap="square" lIns="0" rIns="0" tIns="0" bIns="0" anchor="t">
            <a:spAutoFit/>
          </a:bodyPr>
          <a:lstStyle/>
          <a:p>
            <a:pPr algn="l">
              <a:spcAft>
                <a:spcPts val="400"/>
              </a:spcAft>
            </a:pPr>
            <a:r>
              <a:rPr sz="1300" b="1" i="0">
                <a:solidFill>
                  <a:srgbClr val="E09F3E"/>
                </a:solidFill>
                <a:latin typeface="Calibri"/>
              </a:rPr>
              <a:t>+10 each</a:t>
            </a:r>
          </a:p>
        </p:txBody>
      </p:sp>
      <p:sp>
        <p:nvSpPr>
          <p:cNvPr id="23" name="TextBox 22"/>
          <p:cNvSpPr txBox="1"/>
          <p:nvPr/>
        </p:nvSpPr>
        <p:spPr>
          <a:xfrm>
            <a:off x="2834640" y="4709160"/>
            <a:ext cx="3429000" cy="457200"/>
          </a:xfrm>
          <a:prstGeom prst="rect">
            <a:avLst/>
          </a:prstGeom>
          <a:noFill/>
        </p:spPr>
        <p:txBody>
          <a:bodyPr wrap="square" lIns="0" rIns="0" tIns="0" bIns="0" anchor="t">
            <a:spAutoFit/>
          </a:bodyPr>
          <a:lstStyle/>
          <a:p>
            <a:pPr algn="l">
              <a:spcAft>
                <a:spcPts val="400"/>
              </a:spcAft>
            </a:pPr>
            <a:r>
              <a:rPr sz="1200" b="0" i="0">
                <a:solidFill>
                  <a:srgbClr val="22262E"/>
                </a:solidFill>
                <a:latin typeface="Calibri"/>
              </a:rPr>
              <a:t>outside recipient · rare recipient · only 1–3 recipients</a:t>
            </a:r>
          </a:p>
        </p:txBody>
      </p:sp>
      <p:sp>
        <p:nvSpPr>
          <p:cNvPr id="24" name="TextBox 23"/>
          <p:cNvSpPr txBox="1"/>
          <p:nvPr/>
        </p:nvSpPr>
        <p:spPr>
          <a:xfrm>
            <a:off x="731520" y="5166360"/>
            <a:ext cx="1143000" cy="411480"/>
          </a:xfrm>
          <a:prstGeom prst="rect">
            <a:avLst/>
          </a:prstGeom>
          <a:noFill/>
        </p:spPr>
        <p:txBody>
          <a:bodyPr wrap="square" lIns="0" rIns="0" tIns="0" bIns="0" anchor="t">
            <a:spAutoFit/>
          </a:bodyPr>
          <a:lstStyle/>
          <a:p>
            <a:pPr algn="l">
              <a:spcAft>
                <a:spcPts val="400"/>
              </a:spcAft>
            </a:pPr>
            <a:r>
              <a:rPr sz="1300" b="1" i="0">
                <a:solidFill>
                  <a:srgbClr val="415A77"/>
                </a:solidFill>
                <a:latin typeface="Calibri"/>
              </a:rPr>
              <a:t>T  timing</a:t>
            </a:r>
          </a:p>
        </p:txBody>
      </p:sp>
      <p:sp>
        <p:nvSpPr>
          <p:cNvPr id="25" name="TextBox 24"/>
          <p:cNvSpPr txBox="1"/>
          <p:nvPr/>
        </p:nvSpPr>
        <p:spPr>
          <a:xfrm>
            <a:off x="1874519" y="5166360"/>
            <a:ext cx="960120" cy="411480"/>
          </a:xfrm>
          <a:prstGeom prst="rect">
            <a:avLst/>
          </a:prstGeom>
          <a:noFill/>
        </p:spPr>
        <p:txBody>
          <a:bodyPr wrap="square" lIns="0" rIns="0" tIns="0" bIns="0" anchor="t">
            <a:spAutoFit/>
          </a:bodyPr>
          <a:lstStyle/>
          <a:p>
            <a:pPr algn="l">
              <a:spcAft>
                <a:spcPts val="400"/>
              </a:spcAft>
            </a:pPr>
            <a:r>
              <a:rPr sz="1300" b="1" i="0">
                <a:solidFill>
                  <a:srgbClr val="E09F3E"/>
                </a:solidFill>
                <a:latin typeface="Calibri"/>
              </a:rPr>
              <a:t>+5 each</a:t>
            </a:r>
          </a:p>
        </p:txBody>
      </p:sp>
      <p:sp>
        <p:nvSpPr>
          <p:cNvPr id="26" name="TextBox 25"/>
          <p:cNvSpPr txBox="1"/>
          <p:nvPr/>
        </p:nvSpPr>
        <p:spPr>
          <a:xfrm>
            <a:off x="2834640" y="5166360"/>
            <a:ext cx="3429000" cy="457200"/>
          </a:xfrm>
          <a:prstGeom prst="rect">
            <a:avLst/>
          </a:prstGeom>
          <a:noFill/>
        </p:spPr>
        <p:txBody>
          <a:bodyPr wrap="square" lIns="0" rIns="0" tIns="0" bIns="0" anchor="t">
            <a:spAutoFit/>
          </a:bodyPr>
          <a:lstStyle/>
          <a:p>
            <a:pPr algn="l">
              <a:spcAft>
                <a:spcPts val="400"/>
              </a:spcAft>
            </a:pPr>
            <a:r>
              <a:rPr sz="1200" b="0" i="0">
                <a:solidFill>
                  <a:srgbClr val="22262E"/>
                </a:solidFill>
                <a:latin typeface="Calibri"/>
              </a:rPr>
              <a:t>weekend · an hour this sender rarely uses (vs. own baseline)</a:t>
            </a:r>
          </a:p>
        </p:txBody>
      </p:sp>
      <p:sp>
        <p:nvSpPr>
          <p:cNvPr id="27" name="TextBox 26"/>
          <p:cNvSpPr txBox="1"/>
          <p:nvPr/>
        </p:nvSpPr>
        <p:spPr>
          <a:xfrm>
            <a:off x="731520" y="5669280"/>
            <a:ext cx="5486400" cy="594360"/>
          </a:xfrm>
          <a:prstGeom prst="rect">
            <a:avLst/>
          </a:prstGeom>
          <a:noFill/>
        </p:spPr>
        <p:txBody>
          <a:bodyPr wrap="square" lIns="0" rIns="0" tIns="0" bIns="0" anchor="t">
            <a:spAutoFit/>
          </a:bodyPr>
          <a:lstStyle/>
          <a:p>
            <a:pPr algn="l">
              <a:spcAft>
                <a:spcPts val="400"/>
              </a:spcAft>
            </a:pPr>
            <a:r>
              <a:rPr sz="1200" b="0" i="0">
                <a:solidFill>
                  <a:srgbClr val="5F6B7A"/>
                </a:solidFill>
                <a:latin typeface="Calibri"/>
              </a:rPr>
              <a:t>Filtered first: disclaimers, IT notices, negations ("don't delete"), press articles and bulk senders → recorded as "not evaluated", never silently dropped.</a:t>
            </a:r>
          </a:p>
        </p:txBody>
      </p:sp>
      <p:sp>
        <p:nvSpPr>
          <p:cNvPr id="28" name="Task4Card"/>
          <p:cNvSpPr/>
          <p:nvPr/>
        </p:nvSpPr>
        <p:spPr>
          <a:xfrm>
            <a:off x="6675120" y="1463040"/>
            <a:ext cx="5074920" cy="489204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903720" y="1664208"/>
            <a:ext cx="384048" cy="384048"/>
          </a:xfrm>
          <a:prstGeom prst="ellipse">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30" name="TextBox 29"/>
          <p:cNvSpPr txBox="1"/>
          <p:nvPr/>
        </p:nvSpPr>
        <p:spPr>
          <a:xfrm>
            <a:off x="7406640" y="1700784"/>
            <a:ext cx="4206240" cy="365760"/>
          </a:xfrm>
          <a:prstGeom prst="rect">
            <a:avLst/>
          </a:prstGeom>
          <a:noFill/>
        </p:spPr>
        <p:txBody>
          <a:bodyPr wrap="square" lIns="0" rIns="0" tIns="0" bIns="0" anchor="t">
            <a:spAutoFit/>
          </a:bodyPr>
          <a:lstStyle/>
          <a:p>
            <a:pPr algn="l">
              <a:spcAft>
                <a:spcPts val="400"/>
              </a:spcAft>
            </a:pPr>
            <a:r>
              <a:rPr sz="2000" b="1" i="0">
                <a:solidFill>
                  <a:srgbClr val="1B263B"/>
                </a:solidFill>
                <a:latin typeface="Cambria"/>
              </a:rPr>
              <a:t>Rank, explain, validate</a:t>
            </a:r>
          </a:p>
        </p:txBody>
      </p:sp>
      <p:sp>
        <p:nvSpPr>
          <p:cNvPr id="31" name="TextBox 30"/>
          <p:cNvSpPr txBox="1"/>
          <p:nvPr/>
        </p:nvSpPr>
        <p:spPr>
          <a:xfrm>
            <a:off x="6949440" y="2240280"/>
            <a:ext cx="1508760" cy="502920"/>
          </a:xfrm>
          <a:prstGeom prst="rect">
            <a:avLst/>
          </a:prstGeom>
          <a:noFill/>
        </p:spPr>
        <p:txBody>
          <a:bodyPr wrap="square" lIns="0" rIns="0" tIns="0" bIns="0" anchor="t">
            <a:spAutoFit/>
          </a:bodyPr>
          <a:lstStyle/>
          <a:p>
            <a:pPr algn="l">
              <a:spcAft>
                <a:spcPts val="400"/>
              </a:spcAft>
            </a:pPr>
            <a:r>
              <a:rPr sz="3000" b="1" i="0">
                <a:solidFill>
                  <a:srgbClr val="1B263B"/>
                </a:solidFill>
                <a:latin typeface="Cambria"/>
              </a:rPr>
              <a:t>1,008</a:t>
            </a:r>
          </a:p>
        </p:txBody>
      </p:sp>
      <p:sp>
        <p:nvSpPr>
          <p:cNvPr id="32" name="TextBox 31"/>
          <p:cNvSpPr txBox="1"/>
          <p:nvPr/>
        </p:nvSpPr>
        <p:spPr>
          <a:xfrm>
            <a:off x="6949440" y="2770632"/>
            <a:ext cx="1508760" cy="365760"/>
          </a:xfrm>
          <a:prstGeom prst="rect">
            <a:avLst/>
          </a:prstGeom>
          <a:noFill/>
        </p:spPr>
        <p:txBody>
          <a:bodyPr wrap="square" lIns="0" rIns="0" tIns="0" bIns="0" anchor="t">
            <a:spAutoFit/>
          </a:bodyPr>
          <a:lstStyle/>
          <a:p>
            <a:pPr algn="l">
              <a:spcAft>
                <a:spcPts val="400"/>
              </a:spcAft>
            </a:pPr>
            <a:r>
              <a:rPr sz="1100" b="0" i="0">
                <a:solidFill>
                  <a:srgbClr val="5F6B7A"/>
                </a:solidFill>
                <a:latin typeface="Calibri"/>
              </a:rPr>
              <a:t>emails with any phrase</a:t>
            </a:r>
          </a:p>
        </p:txBody>
      </p:sp>
      <p:sp>
        <p:nvSpPr>
          <p:cNvPr id="33" name="TextBox 32"/>
          <p:cNvSpPr txBox="1"/>
          <p:nvPr/>
        </p:nvSpPr>
        <p:spPr>
          <a:xfrm>
            <a:off x="8503920" y="2240280"/>
            <a:ext cx="1463040" cy="502920"/>
          </a:xfrm>
          <a:prstGeom prst="rect">
            <a:avLst/>
          </a:prstGeom>
          <a:noFill/>
        </p:spPr>
        <p:txBody>
          <a:bodyPr wrap="square" lIns="0" rIns="0" tIns="0" bIns="0" anchor="t">
            <a:spAutoFit/>
          </a:bodyPr>
          <a:lstStyle/>
          <a:p>
            <a:pPr algn="l">
              <a:spcAft>
                <a:spcPts val="400"/>
              </a:spcAft>
            </a:pPr>
            <a:r>
              <a:rPr sz="3000" b="1" i="0">
                <a:solidFill>
                  <a:srgbClr val="1B263B"/>
                </a:solidFill>
                <a:latin typeface="Cambria"/>
              </a:rPr>
              <a:t>304</a:t>
            </a:r>
          </a:p>
        </p:txBody>
      </p:sp>
      <p:sp>
        <p:nvSpPr>
          <p:cNvPr id="34" name="TextBox 33"/>
          <p:cNvSpPr txBox="1"/>
          <p:nvPr/>
        </p:nvSpPr>
        <p:spPr>
          <a:xfrm>
            <a:off x="8503920" y="2770632"/>
            <a:ext cx="1463040" cy="365760"/>
          </a:xfrm>
          <a:prstGeom prst="rect">
            <a:avLst/>
          </a:prstGeom>
          <a:noFill/>
        </p:spPr>
        <p:txBody>
          <a:bodyPr wrap="square" lIns="0" rIns="0" tIns="0" bIns="0" anchor="t">
            <a:spAutoFit/>
          </a:bodyPr>
          <a:lstStyle/>
          <a:p>
            <a:pPr algn="l">
              <a:spcAft>
                <a:spcPts val="400"/>
              </a:spcAft>
            </a:pPr>
            <a:r>
              <a:rPr sz="1100" b="0" i="0">
                <a:solidFill>
                  <a:srgbClr val="5F6B7A"/>
                </a:solidFill>
                <a:latin typeface="Calibri"/>
              </a:rPr>
              <a:t>after filters</a:t>
            </a:r>
          </a:p>
        </p:txBody>
      </p:sp>
      <p:sp>
        <p:nvSpPr>
          <p:cNvPr id="35" name="TextBox 34"/>
          <p:cNvSpPr txBox="1"/>
          <p:nvPr/>
        </p:nvSpPr>
        <p:spPr>
          <a:xfrm>
            <a:off x="10012680" y="2240280"/>
            <a:ext cx="1600200" cy="502920"/>
          </a:xfrm>
          <a:prstGeom prst="rect">
            <a:avLst/>
          </a:prstGeom>
          <a:noFill/>
        </p:spPr>
        <p:txBody>
          <a:bodyPr wrap="square" lIns="0" rIns="0" tIns="0" bIns="0" anchor="t">
            <a:spAutoFit/>
          </a:bodyPr>
          <a:lstStyle/>
          <a:p>
            <a:pPr algn="l">
              <a:spcAft>
                <a:spcPts val="400"/>
              </a:spcAft>
            </a:pPr>
            <a:r>
              <a:rPr sz="3000" b="1" i="0">
                <a:solidFill>
                  <a:srgbClr val="1B263B"/>
                </a:solidFill>
                <a:latin typeface="Cambria"/>
              </a:rPr>
              <a:t>114</a:t>
            </a:r>
          </a:p>
        </p:txBody>
      </p:sp>
      <p:sp>
        <p:nvSpPr>
          <p:cNvPr id="36" name="TextBox 35"/>
          <p:cNvSpPr txBox="1"/>
          <p:nvPr/>
        </p:nvSpPr>
        <p:spPr>
          <a:xfrm>
            <a:off x="10012680" y="2770632"/>
            <a:ext cx="1600200" cy="365760"/>
          </a:xfrm>
          <a:prstGeom prst="rect">
            <a:avLst/>
          </a:prstGeom>
          <a:noFill/>
        </p:spPr>
        <p:txBody>
          <a:bodyPr wrap="square" lIns="0" rIns="0" tIns="0" bIns="0" anchor="t">
            <a:spAutoFit/>
          </a:bodyPr>
          <a:lstStyle/>
          <a:p>
            <a:pPr algn="l">
              <a:spcAft>
                <a:spcPts val="400"/>
              </a:spcAft>
            </a:pPr>
            <a:r>
              <a:rPr sz="1100" b="0" i="0">
                <a:solidFill>
                  <a:srgbClr val="5F6B7A"/>
                </a:solidFill>
                <a:latin typeface="Calibri"/>
              </a:rPr>
              <a:t>flagged for review</a:t>
            </a:r>
          </a:p>
        </p:txBody>
      </p:sp>
      <p:sp>
        <p:nvSpPr>
          <p:cNvPr id="37" name="TextBox 36"/>
          <p:cNvSpPr txBox="1"/>
          <p:nvPr/>
        </p:nvSpPr>
        <p:spPr>
          <a:xfrm>
            <a:off x="6949440" y="3200400"/>
            <a:ext cx="4663440" cy="320040"/>
          </a:xfrm>
          <a:prstGeom prst="rect">
            <a:avLst/>
          </a:prstGeom>
          <a:noFill/>
        </p:spPr>
        <p:txBody>
          <a:bodyPr wrap="square" lIns="0" rIns="0" tIns="0" bIns="0" anchor="t">
            <a:spAutoFit/>
          </a:bodyPr>
          <a:lstStyle/>
          <a:p>
            <a:pPr algn="l">
              <a:spcAft>
                <a:spcPts val="400"/>
              </a:spcAft>
            </a:pPr>
            <a:r>
              <a:rPr sz="1200" b="0" i="0">
                <a:solidFill>
                  <a:srgbClr val="5F6B7A"/>
                </a:solidFill>
                <a:latin typeface="Calibri"/>
              </a:rPr>
              <a:t>5 high · 71 medium · 38 low priority  (of 253,879 emails)</a:t>
            </a:r>
          </a:p>
        </p:txBody>
      </p:sp>
      <p:sp>
        <p:nvSpPr>
          <p:cNvPr id="38" name="EvidenceQuote"/>
          <p:cNvSpPr/>
          <p:nvPr/>
        </p:nvSpPr>
        <p:spPr>
          <a:xfrm>
            <a:off x="6949440" y="3611880"/>
            <a:ext cx="4617720" cy="9601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132320" y="3685032"/>
            <a:ext cx="4297680" cy="868680"/>
          </a:xfrm>
          <a:prstGeom prst="rect">
            <a:avLst/>
          </a:prstGeom>
          <a:noFill/>
        </p:spPr>
        <p:txBody>
          <a:bodyPr wrap="square" lIns="0" rIns="0" tIns="0" bIns="0" anchor="t">
            <a:spAutoFit/>
          </a:bodyPr>
          <a:lstStyle/>
          <a:p>
            <a:pPr algn="l">
              <a:spcAft>
                <a:spcPts val="400"/>
              </a:spcAft>
            </a:pPr>
            <a:r>
              <a:rPr sz="1200" b="1" i="0">
                <a:solidFill>
                  <a:srgbClr val="415A77"/>
                </a:solidFill>
                <a:latin typeface="Calibri"/>
              </a:rPr>
              <a:t>Every flag opens its evidence: </a:t>
            </a:r>
          </a:p>
          <a:p>
            <a:pPr algn="l">
              <a:spcAft>
                <a:spcPts val="400"/>
              </a:spcAft>
            </a:pPr>
            <a:r>
              <a:rPr sz="1300" b="0" i="1">
                <a:solidFill>
                  <a:srgbClr val="22262E"/>
                </a:solidFill>
                <a:latin typeface="Calibri"/>
              </a:rPr>
              <a:t>“Is there any way these trades can change be cleared off the books so that Risk Management can stop running the …”</a:t>
            </a:r>
          </a:p>
        </p:txBody>
      </p:sp>
      <p:sp>
        <p:nvSpPr>
          <p:cNvPr id="40" name="TextBox 39"/>
          <p:cNvSpPr txBox="1"/>
          <p:nvPr/>
        </p:nvSpPr>
        <p:spPr>
          <a:xfrm>
            <a:off x="6949440" y="4754880"/>
            <a:ext cx="4663440" cy="1554480"/>
          </a:xfrm>
          <a:prstGeom prst="rect">
            <a:avLst/>
          </a:prstGeom>
          <a:noFill/>
        </p:spPr>
        <p:txBody>
          <a:bodyPr wrap="square" lIns="0" rIns="0" tIns="0" bIns="0" anchor="t">
            <a:spAutoFit/>
          </a:bodyPr>
          <a:lstStyle/>
          <a:p>
            <a:pPr algn="l">
              <a:spcAft>
                <a:spcPts val="400"/>
              </a:spcAft>
            </a:pPr>
            <a:r>
              <a:rPr sz="1300" b="1" i="0">
                <a:solidFill>
                  <a:srgbClr val="415A77"/>
                </a:solidFill>
                <a:latin typeface="Calibri"/>
              </a:rPr>
              <a:t>Validation  </a:t>
            </a:r>
            <a:r>
              <a:rPr sz="1300" b="0" i="0">
                <a:solidFill>
                  <a:srgbClr val="22262E"/>
                </a:solidFill>
                <a:latin typeface="Calibri"/>
              </a:rPr>
              <a:t>58 automated tests · end-to-end pipeline test</a:t>
            </a:r>
          </a:p>
          <a:p>
            <a:pPr algn="l">
              <a:spcAft>
                <a:spcPts val="400"/>
              </a:spcAft>
            </a:pPr>
            <a:r>
              <a:rPr sz="1300" b="1" i="0">
                <a:solidFill>
                  <a:srgbClr val="415A77"/>
                </a:solidFill>
                <a:latin typeface="Calibri"/>
              </a:rPr>
              <a:t>Precision  </a:t>
            </a:r>
            <a:r>
              <a:rPr sz="1300" b="0" i="0">
                <a:solidFill>
                  <a:srgbClr val="22262E"/>
                </a:solidFill>
                <a:latin typeface="Calibri"/>
              </a:rPr>
              <a:t>top 20 + 20 random flags, labelled by two reviewers independently. </a:t>
            </a:r>
            <a:r>
              <a:rPr sz="1300" b="1" i="0">
                <a:solidFill>
                  <a:srgbClr val="1B263B"/>
                </a:solidFill>
                <a:latin typeface="Calibri"/>
              </a:rPr>
              <a:t>Precision@20: pending manual review</a:t>
            </a:r>
          </a:p>
          <a:p>
            <a:pPr algn="l">
              <a:spcAft>
                <a:spcPts val="400"/>
              </a:spcAft>
            </a:pPr>
            <a:r>
              <a:rPr sz="1300" b="1" i="0">
                <a:solidFill>
                  <a:srgbClr val="415A77"/>
                </a:solidFill>
                <a:latin typeface="Calibri"/>
              </a:rPr>
              <a:t>Labels: </a:t>
            </a:r>
            <a:r>
              <a:rPr sz="1300" b="0" i="0">
                <a:solidFill>
                  <a:srgbClr val="22262E"/>
                </a:solidFill>
                <a:latin typeface="Calibri"/>
              </a:rPr>
              <a:t>"flagged for review" — never an accusation.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